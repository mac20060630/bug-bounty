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Crimson Pro Bold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image" Target="../media/image-1002-1.png" /><ns0:Relationship Id="rId3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ns0:sldLayout xmlns:ns0="http://schemas.openxmlformats.org/presentationml/2006/main" xmlns:ns1="http://schemas.openxmlformats.org/drawingml/2006/main" preserve="1">
  <ns0:cSld name="Slide master 1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7EDE9"/>
          </ns1:solidFill>
          <ns1:ln/>
        </ns0:spPr>
      </ns0:sp>
      <ns0:sp>
        <ns0:nvSpPr>
          <ns0:cNvPr id="3" name="Shap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FFFCFA"/>
          </ns1:solidFill>
          <ns1:ln/>
        </ns0:spPr>
      </ns0:sp>
    </ns0:spTree>
  </ns0:cSld>
  <ns0:clrMapOvr>
    <ns1:masterClrMapping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mac20060630/bug-bounty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500000"/>
            <a:ext cx="620000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BugBounty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200000"/>
            <a:ext cx="620000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Enterprise Vulnerability Reporting &amp; Bug Bounty Management Platform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3100000"/>
            <a:ext cx="6200000" cy="3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Aft>
                <a:spcPts val="1400"/>
              </a:spcAft>
              <a:buNone/>
            </a:pPr>
            <a:r>
              <a:rPr sz="1200" b="0">
                <a:solidFill>
                  <a:srgbClr val="443728"/>
                </a:solidFill>
                <a:latin typeface="Open Sans"/>
              </a:rPr>
              <a:t>Full‑stack MERN cybersecurity platform providing a secure bridge between security researchers and organization security teams. Implements structured reporting, triage, deterministic risk scoring, duplicate detection, rewards &amp; reputation, real‑time notifications, and analytics.</a:t>
            </a:r>
            <a:endParaRPr lang="en-US" sz="1300" dirty="0"/>
          </a:p>
          <a:p>
            <a:pPr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Tech Stack: </a:t>
            </a:r>
            <a:r>
              <a:rPr sz="1200" b="0">
                <a:solidFill>
                  <a:srgbClr val="443728"/>
                </a:solidFill>
                <a:latin typeface="Open Sans"/>
              </a:rPr>
              <a:t>React 18 • Vite • Node.js 20 • Express • MongoDB/Mongoose • Socket.IO • JWT • Tailwind CSS • Recharts</a:t>
            </a:r>
          </a:p>
        </p:txBody>
      </p:sp>
      <p:pic>
        <p:nvPicPr>
          <p:cNvPr id="6" name="Picture 5" descr="img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695" y="2086764"/>
            <a:ext cx="4900000" cy="2684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0000"/>
            <a:ext cx="10868745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Problem: Vulnerability Reporting Is More Than Filing a Ticket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050000"/>
            <a:ext cx="5333569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Researcher-side 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400000"/>
            <a:ext cx="5333569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6000" indent="-2160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No centralized discovery for active bounties</a:t>
            </a:r>
            <a:endParaRPr lang="en-US" sz="650" dirty="0"/>
          </a:p>
          <a:p>
            <a:pPr marL="216000" indent="-216000">
              <a:spcAft>
                <a:spcPts val="8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Poor ways to submit PoC evidence and reproduction steps</a:t>
            </a:r>
          </a:p>
          <a:p>
            <a:pPr marL="216000" indent="-216000">
              <a:spcAft>
                <a:spcPts val="8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Unclear post-submission status / stale communication</a:t>
            </a:r>
          </a:p>
          <a:p>
            <a:pPr marL="216000" indent="-216000">
              <a:spcAft>
                <a:spcPts val="8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No transparent reputation / reward trail</a:t>
            </a:r>
          </a:p>
        </p:txBody>
      </p:sp>
      <p:sp>
        <p:nvSpPr>
          <p:cNvPr id="5" name="Text 3"/>
          <p:cNvSpPr/>
          <p:nvPr/>
        </p:nvSpPr>
        <p:spPr>
          <a:xfrm>
            <a:off x="661475" y="3100000"/>
            <a:ext cx="5333569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Organization-side challenges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1475" y="3450000"/>
            <a:ext cx="5333569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6000" indent="-2160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High report volume and duplicate submissions</a:t>
            </a:r>
            <a:endParaRPr lang="en-US" sz="650" dirty="0"/>
          </a:p>
          <a:p>
            <a:pPr marL="216000" indent="-216000">
              <a:spcAft>
                <a:spcPts val="8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Manual, inconsistent severity and risk assessment</a:t>
            </a:r>
          </a:p>
          <a:p>
            <a:pPr marL="216000" indent="-216000">
              <a:spcAft>
                <a:spcPts val="8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Lack of auditable lifecycle and delayed researcher feedback</a:t>
            </a:r>
          </a:p>
        </p:txBody>
      </p:sp>
      <p:pic>
        <p:nvPicPr>
          <p:cNvPr id="7" name="Picture 6" descr="img_program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001" y="1400000"/>
            <a:ext cx="5333569" cy="20730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0000"/>
            <a:ext cx="10868745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Solution: An End-to-End Vulnerability Lifecycle Platform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300000"/>
            <a:ext cx="2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Researcher Portal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1700000"/>
            <a:ext cx="2500000" cy="4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Browse active programs, submit structured reports with evidence, track lifecycle, reputation and leaderboard, receive real‑time notifications.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3418695" y="1300000"/>
            <a:ext cx="2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Admin / Security Team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418695" y="1700000"/>
            <a:ext cx="2500000" cy="4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Create/manage programs, triage and assign severity &amp; rewards, resolve findings, view program analytics and audit trails.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175915" y="1300000"/>
            <a:ext cx="2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Automated Intelligence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175915" y="1700000"/>
            <a:ext cx="2500000" cy="4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risk scoring, multi-signal duplicate detection, severity recommendations, reputation calculation, real‑time notification pipeline.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933135" y="1300000"/>
            <a:ext cx="2500000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Security Controls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933135" y="1700000"/>
            <a:ext cx="2500000" cy="4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Aft>
                <a:spcPts val="800"/>
              </a:spcAft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JWT auth, RBAC, IDOR checks, request validation, rate limiting, Helmet headers, MongoDB sanitization, secure evidence upload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450000"/>
            <a:ext cx="10868745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1200000"/>
            <a:ext cx="10868745" cy="5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3000"/>
              </a:lnSpc>
              <a:spcAft>
                <a:spcPts val="14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Frontend Layer: </a:t>
            </a:r>
            <a:r>
              <a:rPr sz="1200" b="0">
                <a:solidFill>
                  <a:srgbClr val="443728"/>
                </a:solidFill>
                <a:latin typeface="Open Sans"/>
              </a:rPr>
              <a:t>React 18 + Vite SPA, React Router, Tailwind CSS, Recharts for real-time telemetry visualizations, Axios, and Socket.IO client.</a:t>
            </a:r>
            <a:endParaRPr lang="en-US" sz="1300" dirty="0"/>
          </a:p>
          <a:p>
            <a:pPr>
              <a:spcAft>
                <a:spcPts val="14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API &amp; Business Logic: </a:t>
            </a:r>
            <a:r>
              <a:rPr sz="1200" b="0">
                <a:solidFill>
                  <a:srgbClr val="443728"/>
                </a:solidFill>
                <a:latin typeface="Open Sans"/>
              </a:rPr>
              <a:t>Node.js 20 + Express modular architecture featuring service controllers for deterministic scoring, duplicate detection, workflow state machines, and reward distribution.</a:t>
            </a:r>
          </a:p>
          <a:p>
            <a:pPr>
              <a:spcAft>
                <a:spcPts val="14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Data &amp; Storage Layer: </a:t>
            </a:r>
            <a:r>
              <a:rPr sz="1200" b="0">
                <a:solidFill>
                  <a:srgbClr val="443728"/>
                </a:solidFill>
                <a:latin typeface="Open Sans"/>
              </a:rPr>
              <a:t>MongoDB with Mongoose schemas, persistent local collection indexes, and Docker/Nginx production deployment scaffolding.</a:t>
            </a:r>
          </a:p>
          <a:p>
            <a:pPr>
              <a:spcAft>
                <a:spcPts val="14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Real-Time Infrastructure: </a:t>
            </a:r>
            <a:r>
              <a:rPr sz="1200" b="0">
                <a:solidFill>
                  <a:srgbClr val="443728"/>
                </a:solidFill>
                <a:latin typeface="Open Sans"/>
              </a:rPr>
              <a:t>Authenticated Socket.IO event channels providing room-isolated communications for researcher updates, admin notifications, and triage lifecycle broadcasts.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450000"/>
            <a:ext cx="1086874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From Vulnerability Discovery to Resolution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61475" y="1000000"/>
            <a:ext cx="62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Workflow implemented in backend uses a controlled state‑transition graph:     1) Submit Report → 2) Under Review → 3) Triaged → 4) Accepted → 5) Reward Assigned → 6) Resolved.     Rejection path routes back into review states as configured.   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2968228"/>
            <a:ext cx="1992064" cy="2260600"/>
          </a:xfrm>
          <a:prstGeom prst="roundRect">
            <a:avLst>
              <a:gd name="adj" fmla="val 3433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43239" y="3149997"/>
            <a:ext cx="162853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At submission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3239" y="3500437"/>
            <a:ext cx="1628536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 validation • Risk score calculation • Duplicate detection • Persist report • Admin notification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813773" y="2968228"/>
            <a:ext cx="1992163" cy="2260600"/>
          </a:xfrm>
          <a:prstGeom prst="roundRect">
            <a:avLst>
              <a:gd name="adj" fmla="val 3432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995538" y="3149997"/>
            <a:ext cx="162863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On acceptance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995538" y="3500437"/>
            <a:ext cx="1628635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Reputation points awarded • Researcher notified via Socket.IO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966171" y="2968228"/>
            <a:ext cx="1992064" cy="2260600"/>
          </a:xfrm>
          <a:prstGeom prst="roundRect">
            <a:avLst>
              <a:gd name="adj" fmla="val 3433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147935" y="3149997"/>
            <a:ext cx="1628536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On reward assignment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47935" y="3754735"/>
            <a:ext cx="1628536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Create/update Reward record • Update report reward metadata • Notify researcher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5389066"/>
            <a:ext cx="6296760" cy="972443"/>
          </a:xfrm>
          <a:prstGeom prst="roundRect">
            <a:avLst>
              <a:gd name="adj" fmla="val 7032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43239" y="5570835"/>
            <a:ext cx="5933232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On resolution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3239" y="5921276"/>
            <a:ext cx="593323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2000"/>
              </a:lnSpc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Lifecycle closed • Analytics capture resolution metrics</a:t>
            </a:r>
            <a:endParaRPr lang="en-US" sz="1250" dirty="0"/>
          </a:p>
        </p:txBody>
      </p:sp>
      <p:pic>
        <p:nvPicPr>
          <p:cNvPr id="17" name="Picture 16" descr="img_tri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695" y="2350000"/>
            <a:ext cx="4900000" cy="2143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0000"/>
            <a:ext cx="10868745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Automated Security Intelligence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050000"/>
            <a:ext cx="5333569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Deterministic Risk Scoring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400000"/>
            <a:ext cx="5333569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443728"/>
                </a:solidFill>
                <a:latin typeface="Open Sans"/>
              </a:rPr>
              <a:t>Project implements a transparent, deterministic scoring engine inspired by CVSS principles.
Factors: Impact, Exploitability, Attack Vector, Data Exposure, Authentication Requirements.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661475" y="2150000"/>
            <a:ext cx="5333569" cy="850000"/>
          </a:xfrm>
          <a:prstGeom prst="roundRect">
            <a:avLst>
              <a:gd name="adj" fmla="val 11676"/>
            </a:avLst>
          </a:prstGeom>
          <a:solidFill>
            <a:srgbClr val="F2EFED"/>
          </a:solidFill>
          <a:ln/>
        </p:spPr>
      </p:sp>
      <p:sp>
        <p:nvSpPr>
          <p:cNvPr id="6" name="Text 4"/>
          <p:cNvSpPr/>
          <p:nvPr/>
        </p:nvSpPr>
        <p:spPr>
          <a:xfrm>
            <a:off x="760000" y="2220000"/>
            <a:ext cx="5100000" cy="7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3000"/>
              </a:lnSpc>
              <a:buNone/>
            </a:pPr>
            <a:r>
              <a:rPr sz="1100" b="1">
                <a:solidFill>
                  <a:srgbClr val="443728"/>
                </a:solidFill>
                <a:latin typeface="Consolas"/>
              </a:rPr>
              <a:t>Score = clamp((Impact × Exploitability × Attack Vector
              × Auth Requirements) + Data Exposure, 0–10)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661475" y="3150000"/>
            <a:ext cx="5333569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443728"/>
                </a:solidFill>
                <a:latin typeface="Open Sans"/>
              </a:rPr>
              <a:t>Risk Bands: 0 None • &lt;4 Low • 4–&lt;7 Medium • 7–&lt;9 High • ≥9 Critical.
Emphasis: Explainable recommendations tailored to project requirements, not an opaque CVSS score.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203001" y="1050000"/>
            <a:ext cx="5333569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Duplicate Detection (Multi‑signal)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03001" y="1400000"/>
            <a:ext cx="5333569" cy="4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Weighted Multi-Signal Evaluation:</a:t>
            </a:r>
            <a:endParaRPr lang="en-US" sz="650" dirty="0"/>
          </a:p>
          <a:p>
            <a:pPr>
              <a:spcAft>
                <a:spcPts val="1200"/>
              </a:spcAft>
              <a:buNone/>
            </a:pPr>
            <a:r>
              <a:rPr sz="1200" b="0">
                <a:solidFill>
                  <a:srgbClr val="443728"/>
                </a:solidFill>
                <a:latin typeface="Open Sans"/>
              </a:rPr>
              <a:t>Title: 25%  •  Asset Target: 25%  •  Category: 15%  •  Content: 35%</a:t>
            </a:r>
          </a:p>
          <a:p>
            <a:pPr>
              <a:spcAft>
                <a:spcPts val="2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Similarity Algorithm:</a:t>
            </a:r>
          </a:p>
          <a:p>
            <a:pPr>
              <a:spcAft>
                <a:spcPts val="1200"/>
              </a:spcAft>
              <a:buNone/>
            </a:pPr>
            <a:r>
              <a:rPr sz="1200" b="0">
                <a:solidFill>
                  <a:srgbClr val="443728"/>
                </a:solidFill>
                <a:latin typeface="Open Sans"/>
              </a:rPr>
              <a:t>Combines Jaccard token set similarity with exact asset endpoint matching into a weighted composite score.</a:t>
            </a:r>
          </a:p>
          <a:p>
            <a:pPr>
              <a:spcAft>
                <a:spcPts val="4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Recommendation Thresholds:</a:t>
            </a:r>
          </a:p>
          <a:p>
            <a:pPr marL="216000" indent="-216000">
              <a:spcAft>
                <a:spcPts val="4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&lt; 45%: Unique Report (Proceeds to regular triage)</a:t>
            </a:r>
          </a:p>
          <a:p>
            <a:pPr marL="216000" indent="-216000">
              <a:spcAft>
                <a:spcPts val="4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45% – 70%: Possible Duplicate (Flagged for review)</a:t>
            </a:r>
          </a:p>
          <a:p>
            <a:pPr marL="216000" indent="-216000">
              <a:spcAft>
                <a:spcPts val="4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≥ 70%: Likely Duplicate (Auto-linked to primary submission)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0000"/>
            <a:ext cx="10868745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Security by Design + Real-Time Communication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050000"/>
            <a:ext cx="5333569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Security Controls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1400000"/>
            <a:ext cx="5333569" cy="4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buSzPct val="100000"/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Authentication: </a:t>
            </a:r>
            <a:r>
              <a:rPr sz="1200" b="0">
                <a:solidFill>
                  <a:srgbClr val="443728"/>
                </a:solidFill>
                <a:latin typeface="Open Sans"/>
              </a:rPr>
              <a:t>JWT bearer tokens, session expiry handling, and active account state verification.</a:t>
            </a:r>
            <a:endParaRPr lang="en-US" sz="650" dirty="0"/>
          </a:p>
          <a:p>
            <a:pPr>
              <a:spcAft>
                <a:spcPts val="10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Authorization: </a:t>
            </a:r>
            <a:r>
              <a:rPr sz="1200" b="0">
                <a:solidFill>
                  <a:srgbClr val="443728"/>
                </a:solidFill>
                <a:latin typeface="Open Sans"/>
              </a:rPr>
              <a:t>Role-based access control (researcher vs. admin) and strict resource ownership checks.</a:t>
            </a:r>
          </a:p>
          <a:p>
            <a:pPr>
              <a:spcAft>
                <a:spcPts val="10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API Defenses: </a:t>
            </a:r>
            <a:r>
              <a:rPr sz="1200" b="0">
                <a:solidFill>
                  <a:srgbClr val="443728"/>
                </a:solidFill>
                <a:latin typeface="Open Sans"/>
              </a:rPr>
              <a:t>Helmet security headers, rate limiting, centralized error handling, and payload limits.</a:t>
            </a:r>
          </a:p>
          <a:p>
            <a:pPr>
              <a:spcAft>
                <a:spcPts val="10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Database Protections: </a:t>
            </a:r>
            <a:r>
              <a:rPr sz="1200" b="0">
                <a:solidFill>
                  <a:srgbClr val="443728"/>
                </a:solidFill>
                <a:latin typeface="Open Sans"/>
              </a:rPr>
              <a:t>MongoDB sanitization against NoSQL injection and schema type enforcement.</a:t>
            </a:r>
          </a:p>
          <a:p>
            <a:pPr>
              <a:spcAft>
                <a:spcPts val="10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Evidence Upload Controls: </a:t>
            </a:r>
            <a:r>
              <a:rPr sz="1200" b="0">
                <a:solidFill>
                  <a:srgbClr val="443728"/>
                </a:solidFill>
                <a:latin typeface="Open Sans"/>
              </a:rPr>
              <a:t>MIME and extension whitelisting, 5 MB file size limit, and max 5 files per submission.</a:t>
            </a:r>
          </a:p>
          <a:p>
            <a:pPr>
              <a:spcAft>
                <a:spcPts val="10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IDOR Prevention: </a:t>
            </a:r>
            <a:r>
              <a:rPr sz="1200" b="0">
                <a:solidFill>
                  <a:srgbClr val="443728"/>
                </a:solidFill>
                <a:latin typeface="Open Sans"/>
              </a:rPr>
              <a:t>Backend validates ownership—researchers strictly access only their submitted reports.</a:t>
            </a:r>
          </a:p>
        </p:txBody>
      </p:sp>
      <p:sp>
        <p:nvSpPr>
          <p:cNvPr id="5" name="Text 3"/>
          <p:cNvSpPr/>
          <p:nvPr/>
        </p:nvSpPr>
        <p:spPr>
          <a:xfrm>
            <a:off x="6203001" y="1050000"/>
            <a:ext cx="5333569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Real-Time Engineering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03001" y="5050000"/>
            <a:ext cx="5333569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443728"/>
                </a:solidFill>
                <a:latin typeface="Open Sans"/>
              </a:rPr>
              <a:t>Real-time events emit immediately following state transitions: report status updates, severity adjustments, bounty reward assignments, and new submission alerts. Socket services integrate directly with notification emitters.</a:t>
            </a:r>
            <a:endParaRPr lang="en-US" sz="650" dirty="0"/>
          </a:p>
        </p:txBody>
      </p:sp>
      <p:pic>
        <p:nvPicPr>
          <p:cNvPr id="8" name="Picture 7" descr="img_profi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001" y="1450000"/>
            <a:ext cx="5333569" cy="31980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0000"/>
            <a:ext cx="10868745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Observability, Analytics &amp; Verification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1050000"/>
            <a:ext cx="5333569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Admin Analytics (Recharts)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4250000"/>
            <a:ext cx="5333569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Aggregations: </a:t>
            </a:r>
            <a:r>
              <a:rPr sz="1200" b="0">
                <a:solidFill>
                  <a:srgbClr val="443728"/>
                </a:solidFill>
                <a:latin typeface="Open Sans"/>
              </a:rPr>
              <a:t>Submission trends, severity breakdown donut charts, mean time to resolve, reward distributions, and active program metrics.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661475" y="5150000"/>
            <a:ext cx="5333569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Researcher Analytics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61475" y="5500000"/>
            <a:ext cx="5333569" cy="8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443728"/>
                </a:solidFill>
                <a:latin typeface="Open Sans"/>
              </a:rPr>
              <a:t>Personal researcher dashboard tracks submissions over time, acceptance rates, reputation trajectory, and historical bounty earnings.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6203001" y="1050000"/>
            <a:ext cx="5333569" cy="3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Testing &amp; Engineering Quality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03001" y="1450000"/>
            <a:ext cx="5333569" cy="4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74 Automated Test Suites:
</a:t>
            </a:r>
            <a:r>
              <a:rPr sz="1200" b="0">
                <a:solidFill>
                  <a:srgbClr val="443728"/>
                </a:solidFill>
                <a:latin typeface="Open Sans"/>
              </a:rPr>
              <a:t>Comprehensive test coverage spanning JWT authentication, RBAC authorization, report intake, triage state machine transitions, and reward assignment.</a:t>
            </a:r>
            <a:endParaRPr lang="en-US" sz="650" dirty="0"/>
          </a:p>
          <a:p>
            <a:pPr>
              <a:spcAft>
                <a:spcPts val="14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Security Attack Validations:
</a:t>
            </a:r>
            <a:r>
              <a:rPr sz="1200" b="0">
                <a:solidFill>
                  <a:srgbClr val="443728"/>
                </a:solidFill>
                <a:latin typeface="Open Sans"/>
              </a:rPr>
              <a:t>Explicit scenario tests verifying resistance against IDOR, privilege escalation, expired JWT tokens, malformed payloads, and NoSQL injections.</a:t>
            </a:r>
          </a:p>
          <a:p>
            <a:pPr>
              <a:spcAft>
                <a:spcPts val="14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Evidence Upload Sanitization:
</a:t>
            </a:r>
            <a:r>
              <a:rPr sz="1200" b="0">
                <a:solidFill>
                  <a:srgbClr val="443728"/>
                </a:solidFill>
                <a:latin typeface="Open Sans"/>
              </a:rPr>
              <a:t>Validates file extension whitelists, MIME-type verification, 5 MB file size constraints, and secure attachment isolation.</a:t>
            </a:r>
          </a:p>
        </p:txBody>
      </p:sp>
      <p:pic>
        <p:nvPicPr>
          <p:cNvPr id="11" name="Picture 10" descr="img_dashbo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1400000"/>
            <a:ext cx="5100000" cy="27940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0000"/>
            <a:ext cx="10868745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This Platform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61475" y="1305520"/>
            <a:ext cx="2596986" cy="1980902"/>
          </a:xfrm>
          <a:prstGeom prst="roundRect">
            <a:avLst>
              <a:gd name="adj" fmla="val 345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30539" y="1474589"/>
            <a:ext cx="225885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Structured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0539" y="1825030"/>
            <a:ext cx="2258857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Defined lifecycle for every report—submission → triage → resolution—ensuring auditable traceability.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18695" y="1305520"/>
            <a:ext cx="2596986" cy="1980902"/>
          </a:xfrm>
          <a:prstGeom prst="roundRect">
            <a:avLst>
              <a:gd name="adj" fmla="val 345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7759" y="1474589"/>
            <a:ext cx="225885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87759" y="1825030"/>
            <a:ext cx="2258857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risk scoring and weighted duplicate detection provide inspectable reasoning rather than opaque outputs.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5915" y="1305520"/>
            <a:ext cx="2596986" cy="1980902"/>
          </a:xfrm>
          <a:prstGeom prst="roundRect">
            <a:avLst>
              <a:gd name="adj" fmla="val 345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44980" y="1474589"/>
            <a:ext cx="225885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Secure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44980" y="1825030"/>
            <a:ext cx="2258857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Auth, RBAC, sanitization, rate limits, upload controls, and ownership checks are enforced across the stack.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33135" y="1305520"/>
            <a:ext cx="2597085" cy="1980902"/>
          </a:xfrm>
          <a:prstGeom prst="roundRect">
            <a:avLst>
              <a:gd name="adj" fmla="val 345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02200" y="1474589"/>
            <a:ext cx="225895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Actionable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02200" y="1825030"/>
            <a:ext cx="2258956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en-US" sz="1200" dirty="0" b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triage workflows, rewards, realtime notifications, and analytics give security teams operational capability.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1475" y="350738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43728">
              <a:alpha val="5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1475" y="3750000"/>
            <a:ext cx="10868745" cy="35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Development (clearly future work)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1475" y="4200000"/>
            <a:ext cx="10868745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6000" indent="-216000">
              <a:lnSpc>
                <a:spcPct val="132000"/>
              </a:lnSpc>
              <a:spcAft>
                <a:spcPts val="800"/>
              </a:spcAft>
              <a:buSzPct val="100000"/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Advanced semantic and ML-powered duplicate detection</a:t>
            </a:r>
            <a:endParaRPr lang="en-US" sz="1250" dirty="0"/>
          </a:p>
          <a:p>
            <a:pPr marL="216000" indent="-216000">
              <a:spcAft>
                <a:spcPts val="8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External vulnerability intelligence &amp; automated security scanner integrations</a:t>
            </a:r>
          </a:p>
          <a:p>
            <a:pPr marL="216000" indent="-216000">
              <a:spcAft>
                <a:spcPts val="8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Cloud-scale multi-tenant deployment architectures &amp; Enterprise SSO / OAuth</a:t>
            </a:r>
          </a:p>
          <a:p>
            <a:pPr marL="216000" indent="-216000">
              <a:spcAft>
                <a:spcPts val="800"/>
              </a:spcAft>
              <a:buChar char="•"/>
            </a:pPr>
            <a:r>
              <a:rPr sz="1200" b="0">
                <a:solidFill>
                  <a:srgbClr val="443728"/>
                </a:solidFill>
                <a:latin typeface="Open Sans"/>
              </a:rPr>
              <a:t>CVSS 4.0 compatibility refinements and compliance audit reporting</a:t>
            </a:r>
          </a:p>
        </p:txBody>
      </p:sp>
      <p:sp>
        <p:nvSpPr>
          <p:cNvPr id="18" name="Text 16"/>
          <p:cNvSpPr/>
          <p:nvPr/>
        </p:nvSpPr>
        <p:spPr>
          <a:xfrm>
            <a:off x="661475" y="5750000"/>
            <a:ext cx="1086874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2000"/>
              </a:lnSpc>
              <a:spcAft>
                <a:spcPts val="600"/>
              </a:spcAft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“BugBounty transforms vulnerability disclosure from a fragmented reporting process into a structured, measurable security lifecycle.”</a:t>
            </a:r>
            <a:endParaRPr lang="en-US" sz="1250" dirty="0"/>
          </a:p>
          <a:p>
            <a:pPr>
              <a:buNone/>
            </a:pPr>
            <a:r>
              <a:rPr sz="1200" b="1">
                <a:solidFill>
                  <a:srgbClr val="443728"/>
                </a:solidFill>
                <a:latin typeface="Open Sans"/>
              </a:rPr>
              <a:t>GitHub: </a:t>
            </a:r>
            <a:r>
              <a:rPr sz="1200" b="0">
                <a:solidFill>
                  <a:srgbClr val="443728"/>
                </a:solidFill>
                <a:latin typeface="Open Sans"/>
              </a:rPr>
              <a:t>github.com/mac20060630/bug-bounty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835E5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2026-09-21T04:36:55Z</dcterms:created>
  <dcterms:modified xsi:type="dcterms:W3CDTF">2026-09-21T04:36:55Z</dcterms:modified>
</cp:coreProperties>
</file>